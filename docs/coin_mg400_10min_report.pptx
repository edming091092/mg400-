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notesSz cx="6858000" cy="9144000"/>
  <p:sldIdLst>
    <p:sldId id="256" r:id="rId1"/>
    <p:sldId id="257" r:id="rId2"/>
    <p:sldId id="258" r:id="rId3"/>
    <p:sldId id="259" r:id="rId4"/>
    <p:sldId id="260" r:id="rId5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theme" Target="theme/theme1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>
      <p:nvSpPr>
        <p:cNvPr id="1" name="TextBox"/>
        <p:cNvSpPr txBox="1"/>
        <p:nvPr/>
      </p:nvSpPr>
      <p:spPr>
        <a:xfrm>
          <a:off x="530000" y="260000"/>
          <a:ext cx="11200000" cy="6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3000" dirty="0">
              <a:b/>
              <a:solidFill>
                <a:srgbClr val="17324D"/>
              </a:solidFill>
              <a:latin typeface="Microsoft JhengHei"/>
              <a:ea typeface="Microsoft JhengHei"/>
            </a:rPr>
            <a:t>硬幣辨識與 MG400 機械手臂取放系統</a:t>
          </a:r>
        </a:p>
      </p:txBody>
    </p:sp>
    <p:sp>
      <p:nvSpPr>
        <p:cNvPr id="1" name="TextBox"/>
        <p:cNvSpPr txBox="1"/>
        <p:nvPr/>
      </p:nvSpPr>
      <p:spPr>
        <a:xfrm>
          <a:off x="550000" y="890000"/>
          <a:ext cx="10800000" cy="43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600" dirty="0">
              <a:solidFill>
                <a:srgbClr val="52616B"/>
              </a:solidFill>
              <a:latin typeface="Microsoft JhengHei"/>
              <a:ea typeface="Microsoft JhengHei"/>
            </a:rPr>
            <a:t>以雙相機視覺、YOLO 偵測與桌面座標轉換完成硬幣定位</a:t>
          </a:r>
        </a:p>
      </p:txBody>
    </p:sp>
    <p:sp>
      <p:nvSpPr>
        <p:cNvPr id="2" name="Bullets"/>
        <p:cNvSpPr txBox="1"/>
        <p:nvPr/>
      </p:nvSpPr>
      <p:spPr>
        <a:xfrm>
          <a:off x="900000" y="1650000"/>
          <a:ext cx="10650000" cy="4300000"/>
        </a:xfrm>
        <a:prstGeom prst="rect">
          <a:avLst/>
        </a:prstGeom>
        <a:solidFill>
          <a:srgbClr val="FFFFFF">
            <a:alpha val="94000"/>
          </a:srgbClr>
        </a:solidFill>
        <a:ln w="9525">
          <a:solidFill>
            <a:srgbClr val="D6DEE4"/>
          </a:solidFill>
        </a:ln>
      </p:spPr>
      <p:txBody>
        <a:bodyPr wrap="square" anchor="t" lIns="260000" rIns="260000" tIns="220000" bIns="180000"/>
        <a:lstStyle/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主題：讓系統自動看見桌面硬幣，判斷面額與位置，再提供 MG400 可執行的取放座標。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應用場景：零錢分類、桌面物件定位、自動化取料流程展示。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本報告重點：功能、架構、目前進度，以及開發中遇到的關鍵難點。</a:t>
          </a:r>
        </a:p>
      </p:txBody>
    </p:sp>
    <p:sp>
      <p:nvSpPr>
        <p:cNvPr id="1" name="TextBox"/>
        <p:cNvSpPr txBox="1"/>
        <p:nvPr/>
      </p:nvSpPr>
      <p:spPr>
        <a:xfrm>
          <a:off x="11100000" y="6500000"/>
          <a:ext cx="950000" cy="2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100" dirty="0">
              <a:solidFill>
                <a:srgbClr val="7B8790"/>
              </a:solidFill>
              <a:latin typeface="Microsoft JhengHei"/>
              <a:ea typeface="Microsoft JhengHei"/>
            </a:rPr>
            <a:t>1/5</a:t>
          </a:r>
        </a:p>
      </p:txBody>
    </p:sp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2"/>
        </a:solidFill>
        <a:effectLst/>
      </p:bgPr>
    </p:bg>
    <p:sp>
      <p:nvSpPr>
        <p:cNvPr id="1" name="TextBox"/>
        <p:cNvSpPr txBox="1"/>
        <p:nvPr/>
      </p:nvSpPr>
      <p:spPr>
        <a:xfrm>
          <a:off x="530000" y="260000"/>
          <a:ext cx="11200000" cy="6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3000" dirty="0">
              <a:b/>
              <a:solidFill>
                <a:srgbClr val="17324D"/>
              </a:solidFill>
              <a:latin typeface="Microsoft JhengHei"/>
              <a:ea typeface="Microsoft JhengHei"/>
            </a:rPr>
            <a:t>功能描述</a:t>
          </a:r>
        </a:p>
      </p:txBody>
    </p:sp>
    <p:sp>
      <p:nvSpPr>
        <p:cNvPr id="1" name="TextBox"/>
        <p:cNvSpPr txBox="1"/>
        <p:nvPr/>
      </p:nvSpPr>
      <p:spPr>
        <a:xfrm>
          <a:off x="550000" y="890000"/>
          <a:ext cx="10800000" cy="43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600" dirty="0">
              <a:solidFill>
                <a:srgbClr val="52616B"/>
              </a:solidFill>
              <a:latin typeface="Microsoft JhengHei"/>
              <a:ea typeface="Microsoft JhengHei"/>
            </a:rPr>
            <a:t>系統從影像辨識到手臂動作，串成一個可操作流程</a:t>
          </a:r>
        </a:p>
      </p:txBody>
    </p:sp>
    <p:sp>
      <p:nvSpPr>
        <p:cNvPr id="2" name="Bullets"/>
        <p:cNvSpPr txBox="1"/>
        <p:nvPr/>
      </p:nvSpPr>
      <p:spPr>
        <a:xfrm>
          <a:off x="900000" y="1650000"/>
          <a:ext cx="10650000" cy="4300000"/>
        </a:xfrm>
        <a:prstGeom prst="rect">
          <a:avLst/>
        </a:prstGeom>
        <a:solidFill>
          <a:srgbClr val="FFFFFF">
            <a:alpha val="94000"/>
          </a:srgbClr>
        </a:solidFill>
        <a:ln w="9525">
          <a:solidFill>
            <a:srgbClr val="D6DEE4"/>
          </a:solidFill>
        </a:ln>
      </p:spPr>
      <p:txBody>
        <a:bodyPr wrap="square" anchor="t" lIns="260000" rIns="260000" tIns="220000" bIns="180000"/>
        <a:lstStyle/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硬幣偵測與分類：辨識 1 元、5 元、10 元、50 元四種面額。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雙相機協作：Quality camera 負責清楚影像與分類，Gemini 深度相機負責桌面位置與深度資訊。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座標輸出：將硬幣影像座標轉成 MG400 桌面 XY 座標，並套用安全範圍與補償值。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操作介面：提供 ROI 預覽、辨識後移到硬幣上方、dry lower 測試、急停與清除報警等功能。</a:t>
          </a:r>
        </a:p>
      </p:txBody>
    </p:sp>
    <p:sp>
      <p:nvSpPr>
        <p:cNvPr id="1" name="TextBox"/>
        <p:cNvSpPr txBox="1"/>
        <p:nvPr/>
      </p:nvSpPr>
      <p:spPr>
        <a:xfrm>
          <a:off x="11100000" y="6500000"/>
          <a:ext cx="950000" cy="2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100" dirty="0">
              <a:solidFill>
                <a:srgbClr val="7B8790"/>
              </a:solidFill>
              <a:latin typeface="Microsoft JhengHei"/>
              <a:ea typeface="Microsoft JhengHei"/>
            </a:rPr>
            <a:t>2/5</a:t>
          </a:r>
        </a:p>
      </p:txBody>
    </p:sp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>
      <p:nvSpPr>
        <p:cNvPr id="1" name="TextBox"/>
        <p:cNvSpPr txBox="1"/>
        <p:nvPr/>
      </p:nvSpPr>
      <p:spPr>
        <a:xfrm>
          <a:off x="530000" y="260000"/>
          <a:ext cx="11200000" cy="6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3000" dirty="0">
              <a:b/>
              <a:solidFill>
                <a:srgbClr val="17324D"/>
              </a:solidFill>
              <a:latin typeface="Microsoft JhengHei"/>
              <a:ea typeface="Microsoft JhengHei"/>
            </a:rPr>
            <a:t>架構說明</a:t>
          </a:r>
        </a:p>
      </p:txBody>
    </p:sp>
    <p:sp>
      <p:nvSpPr>
        <p:cNvPr id="1" name="TextBox"/>
        <p:cNvSpPr txBox="1"/>
        <p:nvPr/>
      </p:nvSpPr>
      <p:spPr>
        <a:xfrm>
          <a:off x="550000" y="890000"/>
          <a:ext cx="10800000" cy="43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600" dirty="0">
              <a:solidFill>
                <a:srgbClr val="52616B"/>
              </a:solidFill>
              <a:latin typeface="Microsoft JhengHei"/>
              <a:ea typeface="Microsoft JhengHei"/>
            </a:rPr>
            <a:t>視覺辨識、座標轉換、手臂控制三個模組互相銜接</a:t>
          </a:r>
        </a:p>
      </p:txBody>
    </p:sp>
    <p:sp>
      <p:nvSpPr>
        <p:cNvPr id="3" name="Flow"/>
        <p:cNvSpPr/>
        <p:nvPr/>
      </p:nvSpPr>
      <p:spPr>
        <a:xfrm>
          <a:off x="620000" y="1850000"/>
          <a:ext cx="1760000" cy="760000"/>
        </a:xfrm>
        <a:prstGeom prst="roundRect">
          <a:avLst/>
        </a:prstGeom>
        <a:solidFill>
          <a:srgbClr val="E7F0F7"/>
        </a:solidFill>
        <a:ln w="19050">
          <a:solidFill>
            <a:srgbClr val="5B7FA3"/>
          </a:solidFill>
        </a:ln>
      </p:spPr>
      <p:txBody>
        <a:bodyPr anchor="ctr" wrap="square"/>
        <a:lstStyle/>
        <a:p>
          <a:pPr algn="ctr"/>
          <a:r>
            <a:rPr lang="zh-TW" sz="1700" b="1">
              <a:solidFill>
                <a:srgbClr val="183247"/>
              </a:solidFill>
              <a:latin typeface="Microsoft JhengHei"/>
              <a:ea typeface="Microsoft JhengHei"/>
            </a:rPr>
            <a:t>Quality Camera
清晰影像</a:t>
          </a:r>
        </a:p>
      </p:txBody>
    </p:sp>
    <p:sp>
      <p:nvSpPr>
        <p:cNvPr id="4" name="Arrow"/>
        <p:cNvSpPr/>
        <p:nvPr/>
      </p:nvSpPr>
      <p:spPr>
        <a:xfrm>
          <a:off x="2430000" y="2040000"/>
          <a:ext cx="430000" cy="290000"/>
        </a:xfrm>
        <a:prstGeom prst="rightArrow">
          <a:avLst/>
        </a:prstGeom>
        <a:solidFill>
          <a:srgbClr val="7C8C3D"/>
        </a:solidFill>
        <a:ln>
          <a:noFill/>
        </a:ln>
      </p:spPr>
      <p:txBody>
        <a:bodyPr/>
        <a:lstStyle/>
        <a:p/>
      </p:txBody>
    </p:sp>
    <p:sp>
      <p:nvSpPr>
        <p:cNvPr id="3" name="Flow"/>
        <p:cNvSpPr/>
        <p:nvPr/>
      </p:nvSpPr>
      <p:spPr>
        <a:xfrm>
          <a:off x="2970000" y="1850000"/>
          <a:ext cx="1760000" cy="760000"/>
        </a:xfrm>
        <a:prstGeom prst="roundRect">
          <a:avLst/>
        </a:prstGeom>
        <a:solidFill>
          <a:srgbClr val="E7F0F7"/>
        </a:solidFill>
        <a:ln w="19050">
          <a:solidFill>
            <a:srgbClr val="5B7FA3"/>
          </a:solidFill>
        </a:ln>
      </p:spPr>
      <p:txBody>
        <a:bodyPr anchor="ctr" wrap="square"/>
        <a:lstStyle/>
        <a:p>
          <a:pPr algn="ctr"/>
          <a:r>
            <a:rPr lang="zh-TW" sz="1700" b="1">
              <a:solidFill>
                <a:srgbClr val="183247"/>
              </a:solidFill>
              <a:latin typeface="Microsoft JhengHei"/>
              <a:ea typeface="Microsoft JhengHei"/>
            </a:rPr>
            <a:t>YOLO 偵測
面額分類</a:t>
          </a:r>
        </a:p>
      </p:txBody>
    </p:sp>
    <p:sp>
      <p:nvSpPr>
        <p:cNvPr id="4" name="Arrow"/>
        <p:cNvSpPr/>
        <p:nvPr/>
      </p:nvSpPr>
      <p:spPr>
        <a:xfrm>
          <a:off x="4780000" y="2040000"/>
          <a:ext cx="430000" cy="290000"/>
        </a:xfrm>
        <a:prstGeom prst="rightArrow">
          <a:avLst/>
        </a:prstGeom>
        <a:solidFill>
          <a:srgbClr val="7C8C3D"/>
        </a:solidFill>
        <a:ln>
          <a:noFill/>
        </a:ln>
      </p:spPr>
      <p:txBody>
        <a:bodyPr/>
        <a:lstStyle/>
        <a:p/>
      </p:txBody>
    </p:sp>
    <p:sp>
      <p:nvSpPr>
        <p:cNvPr id="3" name="Flow"/>
        <p:cNvSpPr/>
        <p:nvPr/>
      </p:nvSpPr>
      <p:spPr>
        <a:xfrm>
          <a:off x="5320000" y="1850000"/>
          <a:ext cx="1760000" cy="760000"/>
        </a:xfrm>
        <a:prstGeom prst="roundRect">
          <a:avLst/>
        </a:prstGeom>
        <a:solidFill>
          <a:srgbClr val="E7F0F7"/>
        </a:solidFill>
        <a:ln w="19050">
          <a:solidFill>
            <a:srgbClr val="5B7FA3"/>
          </a:solidFill>
        </a:ln>
      </p:spPr>
      <p:txBody>
        <a:bodyPr anchor="ctr" wrap="square"/>
        <a:lstStyle/>
        <a:p>
          <a:pPr algn="ctr"/>
          <a:r>
            <a:rPr lang="zh-TW" sz="1700" b="1">
              <a:solidFill>
                <a:srgbClr val="183247"/>
              </a:solidFill>
              <a:latin typeface="Microsoft JhengHei"/>
              <a:ea typeface="Microsoft JhengHei"/>
            </a:rPr>
            <a:t>Gemini2
深度/桌面視角</a:t>
          </a:r>
        </a:p>
      </p:txBody>
    </p:sp>
    <p:sp>
      <p:nvSpPr>
        <p:cNvPr id="4" name="Arrow"/>
        <p:cNvSpPr/>
        <p:nvPr/>
      </p:nvSpPr>
      <p:spPr>
        <a:xfrm>
          <a:off x="7130000" y="2040000"/>
          <a:ext cx="430000" cy="290000"/>
        </a:xfrm>
        <a:prstGeom prst="rightArrow">
          <a:avLst/>
        </a:prstGeom>
        <a:solidFill>
          <a:srgbClr val="7C8C3D"/>
        </a:solidFill>
        <a:ln>
          <a:noFill/>
        </a:ln>
      </p:spPr>
      <p:txBody>
        <a:bodyPr/>
        <a:lstStyle/>
        <a:p/>
      </p:txBody>
    </p:sp>
    <p:sp>
      <p:nvSpPr>
        <p:cNvPr id="3" name="Flow"/>
        <p:cNvSpPr/>
        <p:nvPr/>
      </p:nvSpPr>
      <p:spPr>
        <a:xfrm>
          <a:off x="7670000" y="1850000"/>
          <a:ext cx="1760000" cy="760000"/>
        </a:xfrm>
        <a:prstGeom prst="roundRect">
          <a:avLst/>
        </a:prstGeom>
        <a:solidFill>
          <a:srgbClr val="E7F0F7"/>
        </a:solidFill>
        <a:ln w="19050">
          <a:solidFill>
            <a:srgbClr val="5B7FA3"/>
          </a:solidFill>
        </a:ln>
      </p:spPr>
      <p:txBody>
        <a:bodyPr anchor="ctr" wrap="square"/>
        <a:lstStyle/>
        <a:p>
          <a:pPr algn="ctr"/>
          <a:r>
            <a:rPr lang="zh-TW" sz="1700" b="1">
              <a:solidFill>
                <a:srgbClr val="183247"/>
              </a:solidFill>
              <a:latin typeface="Microsoft JhengHei"/>
              <a:ea typeface="Microsoft JhengHei"/>
            </a:rPr>
            <a:t>Homography
座標轉換</a:t>
          </a:r>
        </a:p>
      </p:txBody>
    </p:sp>
    <p:sp>
      <p:nvSpPr>
        <p:cNvPr id="4" name="Arrow"/>
        <p:cNvSpPr/>
        <p:nvPr/>
      </p:nvSpPr>
      <p:spPr>
        <a:xfrm>
          <a:off x="9480000" y="2040000"/>
          <a:ext cx="430000" cy="290000"/>
        </a:xfrm>
        <a:prstGeom prst="rightArrow">
          <a:avLst/>
        </a:prstGeom>
        <a:solidFill>
          <a:srgbClr val="7C8C3D"/>
        </a:solidFill>
        <a:ln>
          <a:noFill/>
        </a:ln>
      </p:spPr>
      <p:txBody>
        <a:bodyPr/>
        <a:lstStyle/>
        <a:p/>
      </p:txBody>
    </p:sp>
    <p:sp>
      <p:nvSpPr>
        <p:cNvPr id="3" name="Flow"/>
        <p:cNvSpPr/>
        <p:nvPr/>
      </p:nvSpPr>
      <p:spPr>
        <a:xfrm>
          <a:off x="10020000" y="1850000"/>
          <a:ext cx="1760000" cy="760000"/>
        </a:xfrm>
        <a:prstGeom prst="roundRect">
          <a:avLst/>
        </a:prstGeom>
        <a:solidFill>
          <a:srgbClr val="E7F0F7"/>
        </a:solidFill>
        <a:ln w="19050">
          <a:solidFill>
            <a:srgbClr val="5B7FA3"/>
          </a:solidFill>
        </a:ln>
      </p:spPr>
      <p:txBody>
        <a:bodyPr anchor="ctr" wrap="square"/>
        <a:lstStyle/>
        <a:p>
          <a:pPr algn="ctr"/>
          <a:r>
            <a:rPr lang="zh-TW" sz="1700" b="1">
              <a:solidFill>
                <a:srgbClr val="183247"/>
              </a:solidFill>
              <a:latin typeface="Microsoft JhengHei"/>
              <a:ea typeface="Microsoft JhengHei"/>
            </a:rPr>
            <a:t>MG400
Hover / Dry lower</a:t>
          </a:r>
        </a:p>
      </p:txBody>
    </p:sp>
    <p:sp>
      <p:nvSpPr>
        <p:cNvPr id="2" name="Bullets"/>
        <p:cNvSpPr txBox="1"/>
        <p:nvPr/>
      </p:nvSpPr>
      <p:spPr>
        <a:xfrm>
          <a:off x="720000" y="3150000"/>
          <a:ext cx="11200000" cy="2600000"/>
        </a:xfrm>
        <a:prstGeom prst="rect">
          <a:avLst/>
        </a:prstGeom>
        <a:solidFill>
          <a:srgbClr val="FFFFFF">
            <a:alpha val="94000"/>
          </a:srgbClr>
        </a:solidFill>
        <a:ln w="9525">
          <a:solidFill>
            <a:srgbClr val="D6DEE4"/>
          </a:solidFill>
        </a:ln>
      </p:spPr>
      <p:txBody>
        <a:bodyPr wrap="square" anchor="t" lIns="260000" rIns="260000" tIns="220000" bIns="180000"/>
        <a:lstStyle/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影像輸入：Logitech C270 取得清晰硬幣畫面，Gemini2 取得深度與桌面視角。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AI / 視覺處理：YOLO 模型做硬幣偵測分類，搭配 ROI 與影像校正降低誤判。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座標轉換：Quality pixel -&gt; Gemini pixel -&gt; MG400 tabletop X/Y。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手臂控制：UI 發出 hover 或 dry lower 指令，MG400 依照轉換後座標移動。</a:t>
          </a:r>
        </a:p>
      </p:txBody>
    </p:sp>
    <p:sp>
      <p:nvSpPr>
        <p:cNvPr id="1" name="TextBox"/>
        <p:cNvSpPr txBox="1"/>
        <p:nvPr/>
      </p:nvSpPr>
      <p:spPr>
        <a:xfrm>
          <a:off x="11100000" y="6500000"/>
          <a:ext cx="950000" cy="2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100" dirty="0">
              <a:solidFill>
                <a:srgbClr val="7B8790"/>
              </a:solidFill>
              <a:latin typeface="Microsoft JhengHei"/>
              <a:ea typeface="Microsoft JhengHei"/>
            </a:rPr>
            <a:t>3/5</a:t>
          </a:r>
        </a:p>
      </p:txBody>
    </p:sp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2"/>
        </a:solidFill>
        <a:effectLst/>
      </p:bgPr>
    </p:bg>
    <p:sp>
      <p:nvSpPr>
        <p:cNvPr id="1" name="TextBox"/>
        <p:cNvSpPr txBox="1"/>
        <p:nvPr/>
      </p:nvSpPr>
      <p:spPr>
        <a:xfrm>
          <a:off x="530000" y="260000"/>
          <a:ext cx="11200000" cy="6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3000" dirty="0">
              <a:b/>
              <a:solidFill>
                <a:srgbClr val="17324D"/>
              </a:solidFill>
              <a:latin typeface="Microsoft JhengHei"/>
              <a:ea typeface="Microsoft JhengHei"/>
            </a:rPr>
            <a:t>目前進度</a:t>
          </a:r>
        </a:p>
      </p:txBody>
    </p:sp>
    <p:sp>
      <p:nvSpPr>
        <p:cNvPr id="1" name="TextBox"/>
        <p:cNvSpPr txBox="1"/>
        <p:nvPr/>
      </p:nvSpPr>
      <p:spPr>
        <a:xfrm>
          <a:off x="550000" y="890000"/>
          <a:ext cx="10800000" cy="43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600" dirty="0">
              <a:solidFill>
                <a:srgbClr val="52616B"/>
              </a:solidFill>
              <a:latin typeface="Microsoft JhengHei"/>
              <a:ea typeface="Microsoft JhengHei"/>
            </a:rPr>
            <a:t>已完成可展示的辨識、標定與手臂 dry-run 流程</a:t>
          </a:r>
        </a:p>
      </p:txBody>
    </p:sp>
    <p:sp>
      <p:nvSpPr>
        <p:cNvPr id="2" name="Bullets"/>
        <p:cNvSpPr txBox="1"/>
        <p:nvPr/>
      </p:nvSpPr>
      <p:spPr>
        <a:xfrm>
          <a:off x="900000" y="1650000"/>
          <a:ext cx="10650000" cy="4300000"/>
        </a:xfrm>
        <a:prstGeom prst="rect">
          <a:avLst/>
        </a:prstGeom>
        <a:solidFill>
          <a:srgbClr val="FFFFFF">
            <a:alpha val="94000"/>
          </a:srgbClr>
        </a:solidFill>
        <a:ln w="9525">
          <a:solidFill>
            <a:srgbClr val="D6DEE4"/>
          </a:solidFill>
        </a:ln>
      </p:spPr>
      <p:txBody>
        <a:bodyPr wrap="square" anchor="t" lIns="260000" rIns="260000" tIns="220000" bIns="180000"/>
        <a:lstStyle/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已建立 YOLO 資料集與訓練流程，類別包含 1NT、5NT、10NT、50NT。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Quality camera 內參標定完成，reprojection error 約 0.2887 px。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Quality 到 Gemini homography 已完成，平均誤差約 0.22 px。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Gemini 到 MG400 桌面 homography 已完成，平均誤差約 0.907 mm，最大約 2.707 mm。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目前手臂流程為 dry run：可移到第一顆硬幣上方與下降測試，尚未接真空吸附 DO。</a:t>
          </a:r>
        </a:p>
      </p:txBody>
    </p:sp>
    <p:sp>
      <p:nvSpPr>
        <p:cNvPr id="1" name="TextBox"/>
        <p:cNvSpPr txBox="1"/>
        <p:nvPr/>
      </p:nvSpPr>
      <p:spPr>
        <a:xfrm>
          <a:off x="11100000" y="6500000"/>
          <a:ext cx="950000" cy="2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100" dirty="0">
              <a:solidFill>
                <a:srgbClr val="7B8790"/>
              </a:solidFill>
              <a:latin typeface="Microsoft JhengHei"/>
              <a:ea typeface="Microsoft JhengHei"/>
            </a:rPr>
            <a:t>4/5</a:t>
          </a:r>
        </a:p>
      </p:txBody>
    </p:sp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>
      <p:nvSpPr>
        <p:cNvPr id="1" name="TextBox"/>
        <p:cNvSpPr txBox="1"/>
        <p:nvPr/>
      </p:nvSpPr>
      <p:spPr>
        <a:xfrm>
          <a:off x="530000" y="260000"/>
          <a:ext cx="11200000" cy="6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3000" dirty="0">
              <a:b/>
              <a:solidFill>
                <a:srgbClr val="17324D"/>
              </a:solidFill>
              <a:latin typeface="Microsoft JhengHei"/>
              <a:ea typeface="Microsoft JhengHei"/>
            </a:rPr>
            <a:t>目前難點與下一步</a:t>
          </a:r>
        </a:p>
      </p:txBody>
    </p:sp>
    <p:sp>
      <p:nvSpPr>
        <p:cNvPr id="1" name="TextBox"/>
        <p:cNvSpPr txBox="1"/>
        <p:nvPr/>
      </p:nvSpPr>
      <p:spPr>
        <a:xfrm>
          <a:off x="550000" y="890000"/>
          <a:ext cx="10800000" cy="43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600" dirty="0">
              <a:solidFill>
                <a:srgbClr val="52616B"/>
              </a:solidFill>
              <a:latin typeface="Microsoft JhengHei"/>
              <a:ea typeface="Microsoft JhengHei"/>
            </a:rPr>
            <a:t>核心挑戰在於穩定辨識、精準落點與真實取放整合</a:t>
          </a:r>
        </a:p>
      </p:txBody>
    </p:sp>
    <p:sp>
      <p:nvSpPr>
        <p:cNvPr id="2" name="Bullets"/>
        <p:cNvSpPr txBox="1"/>
        <p:nvPr/>
      </p:nvSpPr>
      <p:spPr>
        <a:xfrm>
          <a:off x="900000" y="1650000"/>
          <a:ext cx="10650000" cy="4300000"/>
        </a:xfrm>
        <a:prstGeom prst="rect">
          <a:avLst/>
        </a:prstGeom>
        <a:solidFill>
          <a:srgbClr val="FFFFFF">
            <a:alpha val="94000"/>
          </a:srgbClr>
        </a:solidFill>
        <a:ln w="9525">
          <a:solidFill>
            <a:srgbClr val="D6DEE4"/>
          </a:solidFill>
        </a:ln>
      </p:spPr>
      <p:txBody>
        <a:bodyPr wrap="square" anchor="t" lIns="260000" rIns="260000" tIns="220000" bIns="180000"/>
        <a:lstStyle/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難點一：硬幣反光、重疊、角度不同，會影響偵測框與分類穩定度。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難點二：相機、桌面或手臂底座只要位移，就需要重新標定座標關係。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難點三：目前 Z 軸採固定桌面高度，若桌面不平或硬幣堆疊，仍需更完整的高度模型。</a:t>
          </a:r>
        </a:p>
        <a:p>
          <a:pPr marL="342900" indent="-228600">
            <a:buChar char="•"/>
          </a:pPr>
          <a:r>
            <a:rPr lang="zh-TW" sz="2100" dirty="0">
              <a:solidFill>
                <a:srgbClr val="263238"/>
              </a:solidFill>
              <a:latin typeface="Microsoft JhengHei"/>
              <a:ea typeface="Microsoft JhengHei"/>
            </a:rPr>
            <a:t>下一步：增加資料量與測試案例，加入真空吸附控制，標定吸盤中心偏移與取放時序。</a:t>
          </a:r>
        </a:p>
      </p:txBody>
    </p:sp>
    <p:sp>
      <p:nvSpPr>
        <p:cNvPr id="1" name="TextBox"/>
        <p:cNvSpPr txBox="1"/>
        <p:nvPr/>
      </p:nvSpPr>
      <p:spPr>
        <a:xfrm>
          <a:off x="11100000" y="6500000"/>
          <a:ext cx="950000" cy="25000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r>
            <a:rPr lang="zh-TW" sz="1100" dirty="0">
              <a:solidFill>
                <a:srgbClr val="7B8790"/>
              </a:solidFill>
              <a:latin typeface="Microsoft JhengHei"/>
              <a:ea typeface="Microsoft JhengHei"/>
            </a:rPr>
            <a:t>5/5</a:t>
          </a:r>
        </a:p>
      </p:txBody>
    </p:sp>
  </p:cSld>
  <p:clrMapOvr>
    <a:masterClrMapping/>
  </p:clrMapOvr>
</p:sld>
</file>

<file path=ppt/theme/theme1.xml><?xml version="1.0" encoding="utf-8"?>
<a:theme xmlns:a="http://schemas.openxmlformats.org/drawingml/2006/main" name="CoinVision">
  <a:themeElements>
    <a:clrScheme name="CoinVision">
      <a:dk1>
        <a:srgbClr val="17324D"/>
      </a:dk1>
      <a:lt1>
        <a:srgbClr val="FFFFFF"/>
      </a:lt1>
      <a:dk2>
        <a:srgbClr val="263238"/>
      </a:dk2>
      <a:lt2>
        <a:srgbClr val="F4F7F8"/>
      </a:lt2>
      <a:accent1>
        <a:srgbClr val="2F6F8F"/>
      </a:accent1>
      <a:accent2>
        <a:srgbClr val="7C8C3D"/>
      </a:accent2>
      <a:accent3>
        <a:srgbClr val="C79A3A"/>
      </a:accent3>
      <a:accent4>
        <a:srgbClr val="9A4F4F"/>
      </a:accent4>
      <a:accent5>
        <a:srgbClr val="4F6F52"/>
      </a:accent5>
      <a:accent6>
        <a:srgbClr val="5D6A7A"/>
      </a:accent6>
      <a:hlink>
        <a:srgbClr val="2F6F8F"/>
      </a:hlink>
      <a:folHlink>
        <a:srgbClr val="7C8C3D"/>
      </a:folHlink>
    </a:clrScheme>
    <a:fontScheme name="JhengHei">
      <a:majorFont>
        <a:latin typeface="Microsoft JhengHei"/>
        <a:ea typeface="Microsoft JhengHei"/>
      </a:majorFont>
      <a:minorFont>
        <a:latin typeface="Microsoft JhengHei"/>
        <a:ea typeface="Microsoft Jheng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